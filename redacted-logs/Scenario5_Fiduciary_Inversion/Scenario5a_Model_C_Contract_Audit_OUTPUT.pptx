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7132320" y="45720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0972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 Approval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02920" y="1874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Logistics &amp; Global Supply Chain Services Agreement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02920" y="2487168"/>
            <a:ext cx="3200400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26517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Forwarding Solutions, Inc.  ×  Strategic Enterprise Holdings, LLC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Date: October 14, 2025   |   Presented to the Board of Directors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64592" y="4892040"/>
            <a:ext cx="8979408" cy="2514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490118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OF DIRECTORS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1B3B"/>
          </a:solidFill>
          <a:ln w="12700">
            <a:solidFill>
              <a:srgbClr val="021B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5029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Partnership, Why Now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46634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Forwarding Solutions brings a proven global network spanning 60+ countries, enabling immediate scale for our international expansion strategy.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5-year agreement locks in Tier 4 preferential pricing, delivering significant cost advantages over spot-market rates.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coverage — ocean, air, ground, and warehousing — consolidates our logistics vendors from multiple providers to one accountable partner.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CPI-linked rate caps (≤3% annually) provide long-term budget predictability and protection against inflation.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23560" y="1188720"/>
            <a:ext cx="1508760" cy="1554480"/>
          </a:xfrm>
          <a:prstGeom prst="rect">
            <a:avLst/>
          </a:prstGeom>
          <a:solidFill>
            <a:srgbClr val="021B3B"/>
          </a:solidFill>
          <a:ln w="12700">
            <a:solidFill>
              <a:srgbClr val="021B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23560" y="146304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623560" y="21488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Covered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0" y="1188720"/>
            <a:ext cx="1508760" cy="1554480"/>
          </a:xfrm>
          <a:prstGeom prst="rect">
            <a:avLst/>
          </a:prstGeom>
          <a:solidFill>
            <a:srgbClr val="021B3B"/>
          </a:solidFill>
          <a:ln w="12700">
            <a:solidFill>
              <a:srgbClr val="021B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0" y="146304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315200" y="21488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Term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23560" y="2971800"/>
            <a:ext cx="1508760" cy="1554480"/>
          </a:xfrm>
          <a:prstGeom prst="rect">
            <a:avLst/>
          </a:prstGeom>
          <a:solidFill>
            <a:srgbClr val="021B3B"/>
          </a:solidFill>
          <a:ln w="12700">
            <a:solidFill>
              <a:srgbClr val="021B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23560" y="32461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623560" y="39319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Level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0" y="2971800"/>
            <a:ext cx="1508760" cy="1554480"/>
          </a:xfrm>
          <a:prstGeom prst="rect">
            <a:avLst/>
          </a:prstGeom>
          <a:solidFill>
            <a:srgbClr val="021B3B"/>
          </a:solidFill>
          <a:ln w="12700">
            <a:solidFill>
              <a:srgbClr val="021B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0" y="32461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≤3%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315200" y="39319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Rate Cap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90118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BOARD OF DIRECTORS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1B3B"/>
          </a:solidFill>
          <a:ln w="12700">
            <a:solidFill>
              <a:srgbClr val="021B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Advantages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56032" y="1170432"/>
            <a:ext cx="2743200" cy="1783080"/>
          </a:xfrm>
          <a:prstGeom prst="rect">
            <a:avLst/>
          </a:prstGeom>
          <a:solidFill>
            <a:srgbClr val="021B3B"/>
          </a:solidFill>
          <a:ln w="12700">
            <a:solidFill>
              <a:srgbClr val="021B3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30759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29844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Coverage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93192" y="1764792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Ocean, air, ground, and warehousing under one contract — eliminating fragmented vendor management and reducing operational overhead.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63824" y="1170432"/>
            <a:ext cx="2743200" cy="1783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984" y="130759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30752" y="129844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Predictability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300984" y="1764792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 discounted pricing with CPI-linked caps ensures multi-year budget certainty. Rates cannot increase more than 3% in any calendar year.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71616" y="1170432"/>
            <a:ext cx="2743200" cy="1783080"/>
          </a:xfrm>
          <a:prstGeom prst="rect">
            <a:avLst/>
          </a:prstGeom>
          <a:solidFill>
            <a:srgbClr val="021B3B"/>
          </a:solidFill>
          <a:ln w="12700">
            <a:solidFill>
              <a:srgbClr val="021B3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130759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38544" y="129844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Deployment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208776" y="1764792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SOW framework and pre-integrated SOPs allow new trade lanes and facilities to come online quickly, without renegotiating base terms.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256032" y="3090672"/>
            <a:ext cx="2743200" cy="1783080"/>
          </a:xfrm>
          <a:prstGeom prst="rect">
            <a:avLst/>
          </a:prstGeom>
          <a:solidFill>
            <a:srgbClr val="021B3B"/>
          </a:solidFill>
          <a:ln w="12700">
            <a:solidFill>
              <a:srgbClr val="021B3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3227832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2960" y="321868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Alignment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393192" y="3685032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Provider is contractually bound to Tier 1 environmental compliance standards across all ocean and ground vehicles — supporting our sustainability commitments.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3163824" y="3090672"/>
            <a:ext cx="2743200" cy="1783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0984" y="3227832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730752" y="321868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&amp; Data Protection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3300984" y="3685032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strategic supply chain data and reports generated for us are exclusively our property. Robust 48-hour breach notification and commercially reasonable security standards are mandated.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071616" y="3090672"/>
            <a:ext cx="2743200" cy="1783080"/>
          </a:xfrm>
          <a:prstGeom prst="rect">
            <a:avLst/>
          </a:prstGeom>
          <a:solidFill>
            <a:srgbClr val="021B3B"/>
          </a:solidFill>
          <a:ln w="12700">
            <a:solidFill>
              <a:srgbClr val="021B3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3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8776" y="3227832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638544" y="321868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Control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6208776" y="3685032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audit rights, performance warranties tied to each SOW, and a clear Delaware-governed dispute resolution framework protect our interests throughout the term.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365760" y="490118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BOARD OF DIRECTORS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1B3B"/>
          </a:solidFill>
          <a:ln w="12700">
            <a:solidFill>
              <a:srgbClr val="021B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Commercial Terms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15568"/>
          <a:ext cx="8595360" cy="3639312"/>
        </p:xfrm>
        <a:graphic>
          <a:graphicData uri="http://schemas.openxmlformats.org/drawingml/2006/table">
            <a:tbl>
              <a:tblPr/>
              <a:tblGrid>
                <a:gridCol w="3200400"/>
                <a:gridCol w="5394960"/>
              </a:tblGrid>
              <a:tr h="2599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Provision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Summary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3B"/>
                    </a:solidFill>
                  </a:tcPr>
                </a:tc>
              </a:tr>
              <a:tr h="2599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1B3B"/>
                          </a:solidFill>
                        </a:rPr>
                        <a:t>Agreement Term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5 years from October 14, 2025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9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1B3B"/>
                          </a:solidFill>
                        </a:rPr>
                        <a:t>Pricing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Tier 4 preferential rates (Appendix A)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2599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1B3B"/>
                          </a:solidFill>
                        </a:rPr>
                        <a:t>Rate Adjustment Cap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CPI-linked; maximum 3% increase per calendar year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9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1B3B"/>
                          </a:solidFill>
                        </a:rPr>
                        <a:t>Payment Terms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Net 45 days on undisputed invoices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2599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1B3B"/>
                          </a:solidFill>
                        </a:rPr>
                        <a:t>Termination for Convenience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180 days written notice by either party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9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1B3B"/>
                          </a:solidFill>
                        </a:rPr>
                        <a:t>Termination for Cause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30-day cure period following written notice of material breach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2599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1B3B"/>
                          </a:solidFill>
                        </a:rPr>
                        <a:t>Liability Cap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Fees paid in the preceding 12 months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9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1B3B"/>
                          </a:solidFill>
                        </a:rPr>
                        <a:t>Insurance – General Liability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$5M coverage maintained by Service Provider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2599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1B3B"/>
                          </a:solidFill>
                        </a:rPr>
                        <a:t>Insurance – Cargo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$10M coverage maintained by Service Provider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9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1B3B"/>
                          </a:solidFill>
                        </a:rPr>
                        <a:t>Insurance – Professional Liability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$2M coverage maintained by Service Provider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2599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1B3B"/>
                          </a:solidFill>
                        </a:rPr>
                        <a:t>Audit Rights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Annual audit of facilities and financial records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9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1B3B"/>
                          </a:solidFill>
                        </a:rPr>
                        <a:t>Data Breach Notification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Within 48 hours of discovery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2599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1B3B"/>
                          </a:solidFill>
                        </a:rPr>
                        <a:t>Governing Law / Venue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</a:rPr>
                        <a:t>State of Delaware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90118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BOARD OF DIRECTORS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1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6858000" y="457200"/>
            <a:ext cx="1920240" cy="1920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5029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Recommendation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36576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417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is asked to authorize execution of the Master Logistics and Global Supply Chain Services Agreement with Global Forwarding Solutions, Inc.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2286000"/>
            <a:ext cx="8046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Consolidates all logistics operations under a single, accountable global partner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 Tier 4 pricing with contractual rate caps for 5-year budget certainty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with our international expansion roadmap and ESG commitments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by CEO and Legal Counsel following full due diligence review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02920" y="4343400"/>
            <a:ext cx="32004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RESOLVES TO APPROVE EXECUTION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Forwarding Solutions – Strategic Partnership</dc:title>
  <dc:subject>PptxGenJS Presentation</dc:subject>
  <dc:creator>PptxGenJS</dc:creator>
  <cp:lastModifiedBy>PptxGenJS</cp:lastModifiedBy>
  <cp:revision>1</cp:revision>
  <dcterms:created xsi:type="dcterms:W3CDTF">2026-03-06T02:25:54Z</dcterms:created>
  <dcterms:modified xsi:type="dcterms:W3CDTF">2026-03-06T02:25:54Z</dcterms:modified>
</cp:coreProperties>
</file>